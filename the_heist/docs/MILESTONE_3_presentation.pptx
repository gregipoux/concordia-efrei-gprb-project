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Thomas (P5, intro)  ·  ~30s</a:t>
            </a:r>
          </a:p>
          <a:p/>
          <a:p>
            <a:r>
              <a:t>Bonjour, on est l'équipe sur The Heist, le projet Milestone 3 de MOD8.</a:t>
            </a:r>
          </a:p>
          <a:p>
            <a:r>
              <a:t>On a 5 personnes, chacun avec un lot bien défini, et on va vous montrer:</a:t>
            </a:r>
          </a:p>
          <a:p>
            <a:r>
              <a:t>- Ce qu'on a livré (la vraie démo)</a:t>
            </a:r>
          </a:p>
          <a:p>
            <a:r>
              <a:t>- Comment on l'a architecturé</a:t>
            </a:r>
          </a:p>
          <a:p>
            <a:r>
              <a:t>- Les 3 décisions de secure coding qu'on défend</a:t>
            </a:r>
          </a:p>
          <a:p>
            <a:r>
              <a:t>- Les défis qu'on a rencontrés en route</a:t>
            </a:r>
          </a:p>
          <a:p/>
          <a:p>
            <a:r>
              <a:t>C'est parti.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Thomas  ·  ~45s</a:t>
            </a:r>
          </a:p>
          <a:p/>
          <a:p>
            <a:r>
              <a:t>Le sujet demandait une To-Do list sécurisée. On a thématisé en braquage</a:t>
            </a:r>
          </a:p>
          <a:p>
            <a:r>
              <a:t>("The Heist") pour rendre la démo mémorable, mais le mapping est strict:</a:t>
            </a:r>
          </a:p>
          <a:p>
            <a:r>
              <a:t>- The Plan = To Do, In Progress = Doing, The Loot = Done</a:t>
            </a:r>
          </a:p>
          <a:p>
            <a:r>
              <a:t>- L'enum Prisma utilise THE_PLAN/IN_PROGRESS/THE_LOOT, et un mapper</a:t>
            </a:r>
          </a:p>
          <a:p>
            <a:r>
              <a:t>  bidirectionnel traduit vers les libellés UI.</a:t>
            </a:r>
          </a:p>
          <a:p/>
          <a:p>
            <a:r>
              <a:t>On a aussi ajouté Vehicle, Intel, edit/delete, toasts, et un toggle light/dark</a:t>
            </a:r>
          </a:p>
          <a:p>
            <a:r>
              <a:t>— on en reparle après. L'important: tout ce qui est dans la consigne y est,</a:t>
            </a:r>
          </a:p>
          <a:p>
            <a:r>
              <a:t>et le reste sont des extensions assumées.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Grégoire  ·  ~50s  (P1, foundations)</a:t>
            </a:r>
          </a:p>
          <a:p/>
          <a:p>
            <a:r>
              <a:t>Structure simple: SPA Vue d'un côté, API Express de l'autre, MySQL derrière.</a:t>
            </a:r>
          </a:p>
          <a:p>
            <a:r>
              <a:t>Tout passe par un seul service `services/api.js` qui injecte le JWT depuis</a:t>
            </a:r>
          </a:p>
          <a:p>
            <a:r>
              <a:t>sessionStorage. Le mapper centralise la traduction enum ↔ label.</a:t>
            </a:r>
          </a:p>
          <a:p/>
          <a:p>
            <a:r>
              <a:t>Sur le choix Prisma vs Sequelize (la déviation): on l'assume.</a:t>
            </a:r>
          </a:p>
          <a:p>
            <a:r>
              <a:t>- Schema déclaratif unique (schema.prisma)</a:t>
            </a:r>
          </a:p>
          <a:p>
            <a:r>
              <a:t>- Client type-safe — bugs au compile time, pas à l'exécution</a:t>
            </a:r>
          </a:p>
          <a:p>
            <a:r>
              <a:t>- Migrations en 1 commande</a:t>
            </a:r>
          </a:p>
          <a:p>
            <a:r>
              <a:t>- Même protection SQL injection que Sequelize</a:t>
            </a:r>
          </a:p>
          <a:p/>
          <a:p>
            <a:r>
              <a:t>Si le correcteur pose la question, c'est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Eleonore  ·  ~2 min  (P3, frontend integration)</a:t>
            </a:r>
          </a:p>
          <a:p/>
          <a:p>
            <a:r>
              <a:t>[CETTE SLIDE EST UN TEMPLATE — ON BASCULE SUR L'APP RÉELLE]</a:t>
            </a:r>
          </a:p>
          <a:p/>
          <a:p>
            <a:r>
              <a:t>Étapes (chronométrer ~15-20s par étape):</a:t>
            </a:r>
          </a:p>
          <a:p>
            <a:r>
              <a:t>1. Login the_godfather / heist2026  → toast "Welcome back"</a:t>
            </a:r>
          </a:p>
          <a:p>
            <a:r>
              <a:t>2. Board: ajouter une mission → toast vert, carte apparaît dans The Plan</a:t>
            </a:r>
          </a:p>
          <a:p>
            <a:r>
              <a:t>3. Hover une carte: boutons Edit/Delete apparaissent, ouvre Edit, change status</a:t>
            </a:r>
          </a:p>
          <a:p>
            <a:r>
              <a:t>4. Crew: dot vert sur the_godfather (montrer)</a:t>
            </a:r>
          </a:p>
          <a:p>
            <a:r>
              <a:t>5. Recruit modal: ajouter un agent → apparaît dans la grille</a:t>
            </a:r>
          </a:p>
          <a:p>
            <a:r>
              <a:t>6. Garage: edit vehicle, montrer le color picker, changer status à Dumped → driver disabled</a:t>
            </a:r>
          </a:p>
          <a:p>
            <a:r>
              <a:t>7. Intel: pin un fichier → réorganisation instantanée (optimistic)</a:t>
            </a:r>
          </a:p>
          <a:p>
            <a:r>
              <a:t>8. Sun/Moon toggle → tout passe en light en 1 clic</a:t>
            </a:r>
          </a:p>
          <a:p/>
          <a:p>
            <a:r>
              <a:t>Si on perd du temps, on coupe Crew/Recruit ou Garage edit. Le minimum à montrer:</a:t>
            </a:r>
          </a:p>
          <a:p>
            <a:r>
              <a:t>Login, Board create, Theme toggle.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Marco-Antonio  ·  ~75s  (P4, security hardening)</a:t>
            </a:r>
          </a:p>
          <a:p/>
          <a:p>
            <a:r>
              <a:t>Trois décisions concrètes, chacune répond à une attaque réelle:</a:t>
            </a:r>
          </a:p>
          <a:p/>
          <a:p>
            <a:r>
              <a:t>1. TIMING-SAFE LOGIN (#4): sans ça, un attaquant peut deviner quels alias</a:t>
            </a:r>
          </a:p>
          <a:p>
            <a:r>
              <a:t>   existent juste en mesurant le temps de réponse (bcrypt prend ~100ms,</a:t>
            </a:r>
          </a:p>
          <a:p>
            <a:r>
              <a:t>   "user not found" prend ~1ms). Solution: on compare CONTRE un faux hash</a:t>
            </a:r>
          </a:p>
          <a:p>
            <a:r>
              <a:t>   même si l'alias n'existe pas. Temps de réponse identique.</a:t>
            </a:r>
          </a:p>
          <a:p/>
          <a:p>
            <a:r>
              <a:t>2. RATE LIMIT (#7): 10 tentatives par IP / 15 min. Au-delà, HTTP 429.</a:t>
            </a:r>
          </a:p>
          <a:p>
            <a:r>
              <a:t>   Brute force devient inutile. Code: 4 lignes avec express-rate-limit.</a:t>
            </a:r>
          </a:p>
          <a:p/>
          <a:p>
            <a:r>
              <a:t>3. IDOR FIX (#10): la VRAIE leçon de ce milestone. La V1 acceptait authorId</a:t>
            </a:r>
          </a:p>
          <a:p>
            <a:r>
              <a:t>   depuis le body. Un agent authentifié pouvait poster un intel sous le nom</a:t>
            </a:r>
          </a:p>
          <a:p>
            <a:r>
              <a:t>   d'un autre agent — c'est de l'usurpation d'identité.</a:t>
            </a:r>
          </a:p>
          <a:p>
            <a:r>
              <a:t>   Fix: authorId = req.agent.id, lu depuis le JWT vérifié. Le serveur est</a:t>
            </a:r>
          </a:p>
          <a:p>
            <a:r>
              <a:t>   l'autorité, pas le client.</a:t>
            </a:r>
          </a:p>
          <a:p/>
          <a:p>
            <a:r>
              <a:t>   Le slogan: "authentifié ne veut pas dire autorisé". On a corrigé pendant</a:t>
            </a:r>
          </a:p>
          <a:p>
            <a:r>
              <a:t>   l'audit P4, et étendu la même règle à toutes les autres routes.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Xavier  ·  ~45s  (P2, CRUD routes)</a:t>
            </a:r>
          </a:p>
          <a:p/>
          <a:p>
            <a:r>
              <a:t>Trois moments qui ont vraiment façonné le code:</a:t>
            </a:r>
          </a:p>
          <a:p/>
          <a:p>
            <a:r>
              <a:t>1. MAPPING (le moins impressionnant mais le plus utile):</a:t>
            </a:r>
          </a:p>
          <a:p>
            <a:r>
              <a:t>   30+ composants Vue en dur sur les libellés. Plutôt que de tout refactorer,</a:t>
            </a:r>
          </a:p>
          <a:p>
            <a:r>
              <a:t>   un seul fichier `mappers.js` traduit dans les deux sens. Si on swap le</a:t>
            </a:r>
          </a:p>
          <a:p>
            <a:r>
              <a:t>   backend un jour, seul ce fichier change.</a:t>
            </a:r>
          </a:p>
          <a:p/>
          <a:p>
            <a:r>
              <a:t>2. IDOR (déjà couvert sur la slide précédente — Marco l'a montré).</a:t>
            </a:r>
          </a:p>
          <a:p>
            <a:r>
              <a:t>   La leçon générale: tester chaque écriture côté serveur avec la question</a:t>
            </a:r>
          </a:p>
          <a:p>
            <a:r>
              <a:t>   "qui prétend faire quoi?".</a:t>
            </a:r>
          </a:p>
          <a:p/>
          <a:p>
            <a:r>
              <a:t>3. ONLINE STATUS: bug subtil.  isOnline jamais updaté → l'utilisateur</a:t>
            </a:r>
          </a:p>
          <a:p>
            <a:r>
              <a:t>   connecté apparaissait offline sur son propre profil. Fix: /login flip</a:t>
            </a:r>
          </a:p>
          <a:p>
            <a:r>
              <a:t>   à true, nouveau /logout flip à false. AuthStore.logout devient async</a:t>
            </a:r>
          </a:p>
          <a:p>
            <a:r>
              <a:t>   pour que le ping parte avant qu'on jette le JWT.</a:t>
            </a:r>
          </a:p>
          <a:p/>
          <a:p>
            <a:r>
              <a:t>Et en bas: ce qu'on referait — git init dès le jour 1, contrat de données</a:t>
            </a:r>
          </a:p>
          <a:p>
            <a:r>
              <a:t>front-back avant P3, et un test d'intégration par route.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SPEAKER: All  ·  ~30s + Q&amp;A</a:t>
            </a:r>
          </a:p>
          <a:p/>
          <a:p>
            <a:r>
              <a:t>Court et net. Si pas de question:</a:t>
            </a:r>
          </a:p>
          <a:p>
            <a:r>
              <a:t>"On reste dispo après pour montrer plus en détail si vous voulez."</a:t>
            </a:r>
          </a:p>
          <a:p/>
          <a:p>
            <a:r>
              <a:t>Si question prévisible:</a:t>
            </a:r>
          </a:p>
          <a:p>
            <a:r>
              <a:t>- "Pourquoi pas Sequelize?"  → cf slide 3, Grégoire répond</a:t>
            </a:r>
          </a:p>
          <a:p>
            <a:r>
              <a:t>- "Comment vous géreriez si plus d'utilisateurs?"  → SSE + Docker + refresh</a:t>
            </a:r>
          </a:p>
          <a:p>
            <a:r>
              <a:t>  tokens listés dans la doc, page Future Improvements</a:t>
            </a:r>
          </a:p>
          <a:p>
            <a:r>
              <a:t>- "Où sont les tests?"  → on assume, c'est dans nos prochaines étapes</a:t>
            </a:r>
          </a:p>
          <a:p>
            <a:r>
              <a:t>- "Pourquoi pas de drag &amp; drop sur le Kanban?"  → Edit modal change le</a:t>
            </a:r>
          </a:p>
          <a:p>
            <a:r>
              <a:t>  status, drag&amp;drop est un nice-to-have qu'on n'a pas pris vu la deadline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1717A"/>
                </a:solidFill>
                <a:latin typeface="Calibri"/>
              </a:rPr>
              <a:t>CONCORDIA UNIVERSITY  ·  CONTINUING EDUCATION  ·  WINTER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112471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800" b="0" i="0">
                <a:solidFill>
                  <a:srgbClr val="A1A1AA"/>
                </a:solidFill>
                <a:latin typeface="Calibri"/>
              </a:rPr>
              <a:t>MOD8  Advanced Web Programming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4F4F5"/>
                </a:solidFill>
                <a:latin typeface="Calibri"/>
              </a:rPr>
              <a:t>Milestone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0" i="0">
                <a:solidFill>
                  <a:srgbClr val="A1A1AA"/>
                </a:solidFill>
                <a:latin typeface="Calibri"/>
              </a:rPr>
              <a:t>Backend Development  &amp;  Final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112471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4000" b="1" i="1">
                <a:solidFill>
                  <a:srgbClr val="8B5CF6"/>
                </a:solidFill>
                <a:latin typeface="Calibri"/>
              </a:rPr>
              <a:t>The Heist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A1A1AA"/>
                </a:solidFill>
                <a:latin typeface="Calibri"/>
              </a:rPr>
              <a:t>Secure To-Do List Application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53212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TEAM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4F5"/>
                </a:solidFill>
                <a:latin typeface="Calibri"/>
              </a:rPr>
              <a:t>BELLEPERCHE Grégoire  ·  RELUT-VAINQUEUR Xavier  ·  GUELLUY Eleonore  ·  MONTENEGRO LOUREIRO Marco-Antonio  ·  QUERREC Thomas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F5"/>
                </a:solidFill>
                <a:latin typeface="Calibri"/>
              </a:rPr>
              <a:t>What we were asked  ·  what we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1A1AA"/>
                </a:solidFill>
                <a:latin typeface="Calibri"/>
              </a:rPr>
              <a:t>The brief: a secure To-Do list with login, JWT sessions, and three task statuses. We themed it.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WHAT THE BRIEF ASKED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402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Vue.js front + Node.js back + MySQL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Login with token-based session security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Three task statuses: To Do / Doing / Done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Secure coding practices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Front  ↔  back integration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Documentation and 5–7 min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645920"/>
            <a:ext cx="5394960" cy="384048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37960" y="17830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WHAT WE DELIVERED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29400" y="2240280"/>
            <a:ext cx="49377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Vue 3 + Express + Prisma + MySQL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JWT (HS256, 12h) + bcrypt + sessionStorage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Kanban: The Plan / In Progress / The Loot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15 secure-coding practices documented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Single API service + bidirectional mappers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F4F4F5"/>
                </a:solidFill>
                <a:latin typeface="Calibri"/>
              </a:rPr>
              <a:t>•  Bonus: edit/delete, toasts, light/dark theme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6000"/>
            </a:avLst>
          </a:prstGeom>
          <a:solidFill>
            <a:srgbClr val="0D0F1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5687568"/>
            <a:ext cx="10972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Status mapping (1:1, enforced both in the Prisma enum and in mappers.js)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8978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The Plan  →  TO DO        ·        In Progress  →  DOING        ·        The Loot  →  DONE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F5"/>
                </a:solidFill>
                <a:latin typeface="Calibri"/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1A1AA"/>
                </a:solidFill>
                <a:latin typeface="Calibri"/>
              </a:rPr>
              <a:t>One SPA  ·  one REST API  ·  one MySQL  ·  JWT in between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FRONT-END  ·  port 5173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4F5"/>
                </a:solidFill>
                <a:latin typeface="Calibri"/>
              </a:rPr>
              <a:t>Vue 3 + Vite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2461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Pinia  (auth, theme)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vue-router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Tailwind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services/api.js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services/mappers.js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20116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2194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BACK-END  ·  port 3001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6060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4F5"/>
                </a:solidFill>
                <a:latin typeface="Calibri"/>
              </a:rPr>
              <a:t>Express + Prisma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2461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JWT  +  bcrypt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helmet  +  cors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express-validator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express-rate-limit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5 route modules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011680"/>
            <a:ext cx="3474720" cy="237744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19456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DATABASE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606040"/>
            <a:ext cx="34747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F4F4F5"/>
                </a:solidFill>
                <a:latin typeface="Calibri"/>
              </a:rPr>
              <a:t>MySQL 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246120"/>
            <a:ext cx="310896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4 entities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5 enums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Prisma migrations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idempotent seed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4F4F5"/>
                </a:solidFill>
                <a:latin typeface="Calibri"/>
              </a:rPr>
              <a:t>•  no raw SQL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31920" y="3200400"/>
            <a:ext cx="411480" cy="0"/>
          </a:xfrm>
          <a:prstGeom prst="line">
            <a:avLst/>
          </a:prstGeom>
          <a:ln w="285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818120" y="3200400"/>
            <a:ext cx="411480" cy="0"/>
          </a:xfrm>
          <a:prstGeom prst="line">
            <a:avLst/>
          </a:prstGeom>
          <a:ln w="28575">
            <a:solidFill>
              <a:srgbClr val="8B5CF6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931920" y="27432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alibri"/>
              </a:rPr>
              <a:t>JSON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alibri"/>
              </a:rPr>
              <a:t>+ JWT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120" y="2743200"/>
            <a:ext cx="4114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alibri"/>
              </a:rPr>
              <a:t>Prisma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71717A"/>
                </a:solidFill>
                <a:latin typeface="Calibri"/>
              </a:rPr>
              <a:t>Client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983480"/>
            <a:ext cx="11247120" cy="1280160"/>
          </a:xfrm>
          <a:prstGeom prst="roundRect">
            <a:avLst>
              <a:gd name="adj" fmla="val 6000"/>
            </a:avLst>
          </a:prstGeom>
          <a:solidFill>
            <a:srgbClr val="0D0F1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749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8B5CF6"/>
                </a:solidFill>
                <a:latin typeface="Calibri"/>
              </a:rPr>
              <a:t>DEVIATION FROM THE COURSE — WHY PRISMA, NOT SEQUELIZE?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F4F4F5"/>
                </a:solidFill>
                <a:latin typeface="Calibri"/>
              </a:rPr>
              <a:t>Sequelize was taught in Class 7. We picked Prisma for: (1) one declarative schema.prisma as single source of truth, (2) type-safe generated client (compile-time errors instead of runtime), (3) built-in migration tooling. Same SQL-injection protection (parameterized queries). MySQL is unchanged — only the access layer differs.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F5"/>
                </a:solidFill>
                <a:latin typeface="Calibri"/>
              </a:rPr>
              <a:t>Live demo  ·  what we'll show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1A1AA"/>
                </a:solidFill>
                <a:latin typeface="Calibri"/>
              </a:rPr>
              <a:t>Two minutes. Watch the toasts and the green dot on the connected agent.</a:t>
            </a:r>
          </a:p>
        </p:txBody>
      </p:sp>
      <p:pic>
        <p:nvPicPr>
          <p:cNvPr id="4" name="Picture 3" descr="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54480"/>
            <a:ext cx="7772400" cy="4401137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95360" y="1554480"/>
            <a:ext cx="3108960" cy="45720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0" y="169164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71717A"/>
                </a:solidFill>
                <a:latin typeface="Calibri"/>
              </a:rPr>
              <a:t>DEMO SCRIPT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0" y="21488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98280" y="21488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Login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98280" y="239572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the_godfather / heist2026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78240" y="269748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98280" y="269748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98280" y="294436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create + edit a 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0" y="324612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324612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Crew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98280" y="349300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online dot turns green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0" y="379476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98280" y="379476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Recruit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04164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new agent in the grid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240" y="434340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98280" y="434340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Garage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98280" y="4590288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edit vehicle, color picker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4892040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4892040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Intel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98280" y="513892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pin a file (optimistic)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78240" y="5440679"/>
            <a:ext cx="274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8B5CF6"/>
                </a:solidFill>
                <a:latin typeface="Calibri"/>
              </a:rPr>
              <a:t>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5440679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F4F4F5"/>
                </a:solidFill>
                <a:latin typeface="Calibri"/>
              </a:rPr>
              <a:t>Theme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98280" y="5687567"/>
            <a:ext cx="24688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1A1AA"/>
                </a:solidFill>
                <a:latin typeface="Calibri"/>
              </a:rPr>
              <a:t>Sun / Moon toggle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F5"/>
                </a:solidFill>
                <a:latin typeface="Calibri"/>
              </a:rPr>
              <a:t>Secure coding  ·  three highlights we defend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1A1AA"/>
                </a:solidFill>
                <a:latin typeface="Calibri"/>
              </a:rPr>
              <a:t>Out of the 15 practices we documented, these are the three a grader is most likely to probe.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3736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#4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876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4F5"/>
                </a:solidFill>
                <a:latin typeface="Calibri"/>
              </a:rPr>
              <a:t>Timing-safe login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Calibri"/>
              </a:rPr>
              <a:t>If the alias is unknown, we still run bcrypt against a dummy hash so the response time is identical.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3383279" cy="2377440"/>
          </a:xfrm>
          <a:prstGeom prst="roundRect">
            <a:avLst>
              <a:gd name="adj" fmla="val 4000"/>
            </a:avLst>
          </a:prstGeom>
          <a:solidFill>
            <a:srgbClr val="0D0F15"/>
          </a:solidFill>
          <a:ln w="635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const fakeHash = "$2b$10$Cw...";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const hash = agent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? agent.password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: fakeHash;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const match 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await bcrypt.compare(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  password,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  hash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if (!agent || !match)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return res.status(401)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  .json({error: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    "invalid_credentials"});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486400"/>
            <a:ext cx="33832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59E0B"/>
                </a:solidFill>
                <a:latin typeface="Calibri"/>
              </a:rPr>
              <a:t>Blocks alias enumeration through response-time analysis.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55448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73736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#7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4F5"/>
                </a:solidFill>
                <a:latin typeface="Calibri"/>
              </a:rPr>
              <a:t>Rate-limit on /login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19456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Calibri"/>
              </a:rPr>
              <a:t>Caps brute-force attempts. After 10 requests in 15 minutes from the same IP, we return HTTP 429.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0" y="2971800"/>
            <a:ext cx="3383279" cy="2377440"/>
          </a:xfrm>
          <a:prstGeom prst="roundRect">
            <a:avLst>
              <a:gd name="adj" fmla="val 4000"/>
            </a:avLst>
          </a:prstGeom>
          <a:solidFill>
            <a:srgbClr val="0D0F15"/>
          </a:solidFill>
          <a:ln w="635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import rateLimit from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"express-rate-limit";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const loginLimiter = rateLimit({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windowMs: 15 * 60 * 1000,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max: 10,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standardHeaders: true,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legacyHeaders: false,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message: { error: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  "Too many login attempts" 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});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router.post("/login",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loginLimiter, ...)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5486400"/>
            <a:ext cx="33832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F59E0B"/>
                </a:solidFill>
                <a:latin typeface="Calibri"/>
              </a:rPr>
              <a:t>Front-end maps http_429 → user-friendly toast.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1554480"/>
            <a:ext cx="3749039" cy="493776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03919" y="1737360"/>
            <a:ext cx="822960" cy="32004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#10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72600" y="17373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4F4F5"/>
                </a:solidFill>
                <a:latin typeface="Calibri"/>
              </a:rPr>
              <a:t>IDOR fix on intel POST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19" y="2194560"/>
            <a:ext cx="3383279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A1A1AA"/>
                </a:solidFill>
                <a:latin typeface="Calibri"/>
              </a:rPr>
              <a:t>First version trusted authorId from the body. Any agent could post intel under another agent's name.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503919" y="2971800"/>
            <a:ext cx="3383279" cy="2377440"/>
          </a:xfrm>
          <a:prstGeom prst="roundRect">
            <a:avLst>
              <a:gd name="adj" fmla="val 4000"/>
            </a:avLst>
          </a:prstGeom>
          <a:solidFill>
            <a:srgbClr val="0D0F15"/>
          </a:solidFill>
          <a:ln w="6350">
            <a:solidFill>
              <a:srgbClr val="2A2E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37160" rIns="137160" tIns="91440" bIns="91440" wrap="square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// BEFORE  (vulnerable)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data: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...,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authorId: req.body.authorId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/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// AFTER  (server-authoritative)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data: 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...,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authorId: req.agent.id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  //  ^^^ from the JWT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>
                <a:solidFill>
                  <a:srgbClr val="F4F4F5"/>
                </a:solidFill>
                <a:latin typeface="Consolas"/>
              </a:rPr>
              <a:t>}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19" y="5486400"/>
            <a:ext cx="3383279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22C55E"/>
                </a:solidFill>
                <a:latin typeface="Calibri"/>
              </a:rPr>
              <a:t>Authenticated  ≠  authorized.  The server decides the author.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4F4F5"/>
                </a:solidFill>
                <a:latin typeface="Calibri"/>
              </a:rPr>
              <a:t>What surprised us  ·  what we'd redo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1">
                <a:solidFill>
                  <a:srgbClr val="A1A1AA"/>
                </a:solidFill>
                <a:latin typeface="Calibri"/>
              </a:rPr>
              <a:t>Three real moments that shaped the codebase.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554480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719072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MAPPING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65960" y="173736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4F5"/>
                </a:solidFill>
                <a:latin typeface="Calibri"/>
              </a:rPr>
              <a:t>Front-end labels  ≠  Prisma enums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94560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A"/>
                </a:solidFill>
                <a:latin typeface="Calibri"/>
              </a:rPr>
              <a:t>Milestone 2 hardcoded "The Plan", "Godfather" in 30+ components. The API uses SCREAMING_SNAKE. We added one mappers.js file — components stay untouched, the boundary is the only thing that knows about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36391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0080" y="3300984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SECURITY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331927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4F5"/>
                </a:solidFill>
                <a:latin typeface="Calibri"/>
              </a:rPr>
              <a:t>An IDOR caught during audit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776472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A"/>
                </a:solidFill>
                <a:latin typeface="Calibri"/>
              </a:rPr>
              <a:t>authorId trusted from the body. We removed the field from the validator and read it from req.agent.id. The lesson stuck: every server-side write must answer "who is claiming what" — not just "is the user logged in".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718304"/>
            <a:ext cx="11247120" cy="141732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4882896"/>
            <a:ext cx="1188720" cy="36576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100" b="1">
                <a:solidFill>
                  <a:srgbClr val="F4F4F5"/>
                </a:solidFill>
                <a:latin typeface="Calibri"/>
              </a:rPr>
              <a:t>STATE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901184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4F4F5"/>
                </a:solidFill>
                <a:latin typeface="Calibri"/>
              </a:rPr>
              <a:t>Online status not synced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358384"/>
            <a:ext cx="1051560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A1A1AA"/>
                </a:solidFill>
                <a:latin typeface="Calibri"/>
              </a:rPr>
              <a:t>isOnline never updated → connected user appeared offline. Fixed by /login flipping it to true and adding a /logout endpoint that flips it back. Front-end logout is now async so the back-end ping fires before the token is dropped.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5897880"/>
            <a:ext cx="11247120" cy="502920"/>
          </a:xfrm>
          <a:prstGeom prst="roundRect">
            <a:avLst>
              <a:gd name="adj" fmla="val 6000"/>
            </a:avLst>
          </a:prstGeom>
          <a:solidFill>
            <a:srgbClr val="0D0F15"/>
          </a:solidFill>
          <a:ln w="12700">
            <a:solidFill>
              <a:srgbClr val="8B5CF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1">
                <a:solidFill>
                  <a:srgbClr val="F4F4F5"/>
                </a:solidFill>
                <a:latin typeface="Calibri"/>
              </a:rPr>
              <a:t>Next time:  init Git on day 1.  ·  Agree on the data contract before P3.  ·  One integration test per route.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F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200" b="1" i="0">
                <a:solidFill>
                  <a:srgbClr val="F4F4F5"/>
                </a:solidFill>
                <a:latin typeface="Calibri"/>
              </a:rP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471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1">
                <a:solidFill>
                  <a:srgbClr val="A1A1AA"/>
                </a:solidFill>
                <a:latin typeface="Calibri"/>
              </a:rPr>
              <a:t>We'd love to defend any technical choice — go ahead.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3931920" cy="502920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8288" bIns="18288"/>
          <a:lstStyle/>
          <a:p>
            <a:pPr algn="ctr"/>
            <a:r>
              <a:rPr sz="1400" b="0">
                <a:solidFill>
                  <a:srgbClr val="F4F4F5"/>
                </a:solidFill>
                <a:latin typeface="Calibri"/>
              </a:rPr>
              <a:t>github.com/gregipoux/Concordia-Efrei-GPRB-Project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4526280"/>
            <a:ext cx="5760720" cy="1371600"/>
          </a:xfrm>
          <a:prstGeom prst="roundRect">
            <a:avLst>
              <a:gd name="adj" fmla="val 6000"/>
            </a:avLst>
          </a:prstGeom>
          <a:solidFill>
            <a:srgbClr val="161922"/>
          </a:solidFill>
          <a:ln w="9525">
            <a:solidFill>
              <a:srgbClr val="2A2E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0" y="4617720"/>
            <a:ext cx="57607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1717A"/>
                </a:solidFill>
                <a:latin typeface="Calibri"/>
              </a:rPr>
              <a:t>DEMO ACCOUNTS  ·  password = heist2026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5029200"/>
            <a:ext cx="57607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4F5"/>
                </a:solidFill>
                <a:latin typeface="Calibri"/>
              </a:rPr>
              <a:t>the_godfather  (GODFATHER)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F4F4F5"/>
                </a:solidFill>
                <a:latin typeface="Calibri"/>
              </a:rPr>
              <a:t>ghost_rider  ·  shadow_fox  ·  iron_wraith  (AGENT)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126480"/>
            <a:ext cx="112471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71717A"/>
                </a:solidFill>
                <a:latin typeface="Calibri"/>
              </a:rPr>
              <a:t>Grégoire  ·  Xavier  ·  Eleonore  ·  Marco-Antonio  ·  Thomas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MOD8  ·  Milestone 3  ·  The Heist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71717A"/>
                </a:solidFill>
                <a:latin typeface="Calibri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